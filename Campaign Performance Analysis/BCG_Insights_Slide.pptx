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0A6"/>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2" d="100"/>
          <a:sy n="82" d="100"/>
        </p:scale>
        <p:origin x="629"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hrinivas\Documents\Excel_Files\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hrinivas\Documents\Excel_Files\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hrinivas\Documents\Excel_Files\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[Campaign_Data_Week1.xlsx]New!PivotTable2</c:name>
    <c:fmtId val="14"/>
  </c:pivotSource>
  <c:chart>
    <c:autoTitleDeleted val="1"/>
    <c:pivotFmts>
      <c:pivotFmt>
        <c:idx val="0"/>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0093772476266692E-2"/>
          <c:y val="6.1581182620058801E-2"/>
          <c:w val="0.87857021201504149"/>
          <c:h val="0.84452209098862641"/>
        </c:manualLayout>
      </c:layout>
      <c:barChart>
        <c:barDir val="col"/>
        <c:grouping val="clustered"/>
        <c:varyColors val="0"/>
        <c:ser>
          <c:idx val="0"/>
          <c:order val="0"/>
          <c:tx>
            <c:strRef>
              <c:f>New!$B$2:$B$3</c:f>
              <c:strCache>
                <c:ptCount val="1"/>
                <c:pt idx="0">
                  <c:v>Email</c:v>
                </c:pt>
              </c:strCache>
            </c:strRef>
          </c:tx>
          <c:spPr>
            <a:solidFill>
              <a:schemeClr val="accent1">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Pt>
            <c:idx val="1"/>
            <c:invertIfNegative val="0"/>
            <c:bubble3D val="0"/>
            <c:spPr>
              <a:solidFill>
                <a:schemeClr val="accent2">
                  <a:lumMod val="75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extLst>
              <c:ext xmlns:c16="http://schemas.microsoft.com/office/drawing/2014/chart" uri="{C3380CC4-5D6E-409C-BE32-E72D297353CC}">
                <c16:uniqueId val="{00000005-7BD7-4721-8673-9B9336A4728A}"/>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1552301153858533"/>
                      <c:h val="0.11944314694304956"/>
                    </c:manualLayout>
                  </c15:layout>
                </c:ext>
                <c:ext xmlns:c16="http://schemas.microsoft.com/office/drawing/2014/chart" uri="{C3380CC4-5D6E-409C-BE32-E72D297353CC}">
                  <c16:uniqueId val="{00000003-7BD7-4721-8673-9B9336A4728A}"/>
                </c:ext>
              </c:extLst>
            </c:dLbl>
            <c:dLbl>
              <c:idx val="1"/>
              <c:layout>
                <c:manualLayout>
                  <c:x val="-8.4193683503742705E-17"/>
                  <c:y val="1.0045934441972073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1552301153858533"/>
                      <c:h val="0.11944314694304956"/>
                    </c:manualLayout>
                  </c15:layout>
                </c:ext>
                <c:ext xmlns:c16="http://schemas.microsoft.com/office/drawing/2014/chart" uri="{C3380CC4-5D6E-409C-BE32-E72D297353CC}">
                  <c16:uniqueId val="{00000005-7BD7-4721-8673-9B9336A4728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New!$A$4:$A$6</c:f>
              <c:strCache>
                <c:ptCount val="2"/>
                <c:pt idx="0">
                  <c:v>A</c:v>
                </c:pt>
                <c:pt idx="1">
                  <c:v>B</c:v>
                </c:pt>
              </c:strCache>
            </c:strRef>
          </c:cat>
          <c:val>
            <c:numRef>
              <c:f>New!$B$4:$B$6</c:f>
              <c:numCache>
                <c:formatCode>[$$-409]#,##0.00</c:formatCode>
                <c:ptCount val="2"/>
                <c:pt idx="0">
                  <c:v>2952.37</c:v>
                </c:pt>
                <c:pt idx="1">
                  <c:v>4956.9399999999996</c:v>
                </c:pt>
              </c:numCache>
            </c:numRef>
          </c:val>
          <c:extLst>
            <c:ext xmlns:c16="http://schemas.microsoft.com/office/drawing/2014/chart" uri="{C3380CC4-5D6E-409C-BE32-E72D297353CC}">
              <c16:uniqueId val="{00000000-7BD7-4721-8673-9B9336A4728A}"/>
            </c:ext>
          </c:extLst>
        </c:ser>
        <c:ser>
          <c:idx val="1"/>
          <c:order val="1"/>
          <c:tx>
            <c:strRef>
              <c:f>New!$C$2:$C$3</c:f>
              <c:strCache>
                <c:ptCount val="1"/>
                <c:pt idx="0">
                  <c:v>Instagram</c:v>
                </c:pt>
              </c:strCache>
            </c:strRef>
          </c:tx>
          <c:spPr>
            <a:solidFill>
              <a:schemeClr val="accent2">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dLbl>
              <c:idx val="0"/>
              <c:dLblPos val="inEnd"/>
              <c:showLegendKey val="0"/>
              <c:showVal val="1"/>
              <c:showCatName val="0"/>
              <c:showSerName val="0"/>
              <c:showPercent val="0"/>
              <c:showBubbleSize val="0"/>
              <c:extLst>
                <c:ext xmlns:c15="http://schemas.microsoft.com/office/drawing/2012/chart" uri="{CE6537A1-D6FC-4f65-9D91-7224C49458BB}">
                  <c15:layout>
                    <c:manualLayout>
                      <c:w val="0.21552301153858533"/>
                      <c:h val="0.11944314694304956"/>
                    </c:manualLayout>
                  </c15:layout>
                </c:ext>
                <c:ext xmlns:c16="http://schemas.microsoft.com/office/drawing/2014/chart" uri="{C3380CC4-5D6E-409C-BE32-E72D297353CC}">
                  <c16:uniqueId val="{00000004-7BD7-4721-8673-9B9336A4728A}"/>
                </c:ext>
              </c:extLst>
            </c:dLbl>
            <c:dLbl>
              <c:idx val="1"/>
              <c:layout>
                <c:manualLayout>
                  <c:x val="-1.836974315266016E-2"/>
                  <c:y val="0.15942411663109959"/>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2011544732675037"/>
                      <c:h val="0.11944314694304956"/>
                    </c:manualLayout>
                  </c15:layout>
                </c:ext>
                <c:ext xmlns:c16="http://schemas.microsoft.com/office/drawing/2014/chart" uri="{C3380CC4-5D6E-409C-BE32-E72D297353CC}">
                  <c16:uniqueId val="{00000006-7BD7-4721-8673-9B9336A4728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New!$A$4:$A$6</c:f>
              <c:strCache>
                <c:ptCount val="2"/>
                <c:pt idx="0">
                  <c:v>A</c:v>
                </c:pt>
                <c:pt idx="1">
                  <c:v>B</c:v>
                </c:pt>
              </c:strCache>
            </c:strRef>
          </c:cat>
          <c:val>
            <c:numRef>
              <c:f>New!$C$4:$C$6</c:f>
              <c:numCache>
                <c:formatCode>[$$-409]#,##0.00</c:formatCode>
                <c:ptCount val="2"/>
                <c:pt idx="0">
                  <c:v>2162.9000000000005</c:v>
                </c:pt>
                <c:pt idx="1">
                  <c:v>1710.5100000000004</c:v>
                </c:pt>
              </c:numCache>
            </c:numRef>
          </c:val>
          <c:extLst>
            <c:ext xmlns:c16="http://schemas.microsoft.com/office/drawing/2014/chart" uri="{C3380CC4-5D6E-409C-BE32-E72D297353CC}">
              <c16:uniqueId val="{00000001-7BD7-4721-8673-9B9336A4728A}"/>
            </c:ext>
          </c:extLst>
        </c:ser>
        <c:ser>
          <c:idx val="2"/>
          <c:order val="2"/>
          <c:tx>
            <c:strRef>
              <c:f>New!$D$2:$D$3</c:f>
              <c:strCache>
                <c:ptCount val="1"/>
                <c:pt idx="0">
                  <c:v>Web Banner</c:v>
                </c:pt>
              </c:strCache>
            </c:strRef>
          </c:tx>
          <c:spPr>
            <a:solidFill>
              <a:schemeClr val="accent3">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dLbl>
              <c:idx val="1"/>
              <c:dLblPos val="outEnd"/>
              <c:showLegendKey val="0"/>
              <c:showVal val="1"/>
              <c:showCatName val="0"/>
              <c:showSerName val="0"/>
              <c:showPercent val="0"/>
              <c:showBubbleSize val="0"/>
              <c:extLst>
                <c:ext xmlns:c15="http://schemas.microsoft.com/office/drawing/2012/chart" uri="{CE6537A1-D6FC-4f65-9D91-7224C49458BB}">
                  <c15:layout>
                    <c:manualLayout>
                      <c:w val="0.21093057575042029"/>
                      <c:h val="0.11944314694304956"/>
                    </c:manualLayout>
                  </c15:layout>
                </c:ext>
                <c:ext xmlns:c16="http://schemas.microsoft.com/office/drawing/2014/chart" uri="{C3380CC4-5D6E-409C-BE32-E72D297353CC}">
                  <c16:uniqueId val="{00000007-7BD7-4721-8673-9B9336A4728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New!$A$4:$A$6</c:f>
              <c:strCache>
                <c:ptCount val="2"/>
                <c:pt idx="0">
                  <c:v>A</c:v>
                </c:pt>
                <c:pt idx="1">
                  <c:v>B</c:v>
                </c:pt>
              </c:strCache>
            </c:strRef>
          </c:cat>
          <c:val>
            <c:numRef>
              <c:f>New!$D$4:$D$6</c:f>
              <c:numCache>
                <c:formatCode>[$$-409]#,##0.00</c:formatCode>
                <c:ptCount val="2"/>
                <c:pt idx="0">
                  <c:v>754.29</c:v>
                </c:pt>
                <c:pt idx="1">
                  <c:v>2122.5899999999997</c:v>
                </c:pt>
              </c:numCache>
            </c:numRef>
          </c:val>
          <c:extLst>
            <c:ext xmlns:c16="http://schemas.microsoft.com/office/drawing/2014/chart" uri="{C3380CC4-5D6E-409C-BE32-E72D297353CC}">
              <c16:uniqueId val="{00000002-7BD7-4721-8673-9B9336A4728A}"/>
            </c:ext>
          </c:extLst>
        </c:ser>
        <c:dLbls>
          <c:dLblPos val="ctr"/>
          <c:showLegendKey val="0"/>
          <c:showVal val="1"/>
          <c:showCatName val="0"/>
          <c:showSerName val="0"/>
          <c:showPercent val="0"/>
          <c:showBubbleSize val="0"/>
        </c:dLbls>
        <c:gapWidth val="100"/>
        <c:overlap val="-24"/>
        <c:axId val="1566015184"/>
        <c:axId val="1566003184"/>
      </c:barChart>
      <c:catAx>
        <c:axId val="156601518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crossAx val="1566003184"/>
        <c:crosses val="autoZero"/>
        <c:auto val="1"/>
        <c:lblAlgn val="ctr"/>
        <c:lblOffset val="100"/>
        <c:noMultiLvlLbl val="0"/>
      </c:catAx>
      <c:valAx>
        <c:axId val="1566003184"/>
        <c:scaling>
          <c:orientation val="minMax"/>
        </c:scaling>
        <c:delete val="1"/>
        <c:axPos val="l"/>
        <c:majorGridlines>
          <c:spPr>
            <a:ln w="9525" cap="flat" cmpd="sng" algn="ctr">
              <a:solidFill>
                <a:schemeClr val="lt1">
                  <a:lumMod val="95000"/>
                  <a:alpha val="10000"/>
                </a:schemeClr>
              </a:solidFill>
              <a:round/>
            </a:ln>
            <a:effectLst/>
          </c:spPr>
        </c:majorGridlines>
        <c:numFmt formatCode="[$$-409]#,##0.00" sourceLinked="1"/>
        <c:majorTickMark val="none"/>
        <c:minorTickMark val="none"/>
        <c:tickLblPos val="nextTo"/>
        <c:crossAx val="1566015184"/>
        <c:crosses val="autoZero"/>
        <c:crossBetween val="between"/>
      </c:valAx>
      <c:spPr>
        <a:noFill/>
        <a:ln>
          <a:noFill/>
        </a:ln>
        <a:effectLst/>
      </c:spPr>
    </c:plotArea>
    <c:legend>
      <c:legendPos val="t"/>
      <c:layout>
        <c:manualLayout>
          <c:xMode val="edge"/>
          <c:yMode val="edge"/>
          <c:x val="9.1061131106086338E-2"/>
          <c:y val="1.4916630609408532E-2"/>
          <c:w val="0.88975044269996173"/>
          <c:h val="9.0780047033957631E-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[Campaign_Data_Week1.xlsx]New!PivotTable6</c:name>
    <c:fmtId val="28"/>
  </c:pivotSource>
  <c:chart>
    <c:autoTitleDeleted val="1"/>
    <c:pivotFmts>
      <c:pivotFmt>
        <c:idx val="0"/>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pivotFmt>
      <c:pivotFmt>
        <c:idx val="2"/>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pivotFmt>
      <c:pivotFmt>
        <c:idx val="3"/>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New!$B$28:$B$29</c:f>
              <c:strCache>
                <c:ptCount val="1"/>
                <c:pt idx="0">
                  <c:v>A</c:v>
                </c:pt>
              </c:strCache>
            </c:strRef>
          </c:tx>
          <c:spPr>
            <a:solidFill>
              <a:schemeClr val="accent1">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Pt>
            <c:idx val="0"/>
            <c:invertIfNegative val="0"/>
            <c:bubble3D val="0"/>
            <c:extLst>
              <c:ext xmlns:c16="http://schemas.microsoft.com/office/drawing/2014/chart" uri="{C3380CC4-5D6E-409C-BE32-E72D297353CC}">
                <c16:uniqueId val="{00000000-2DF4-48AB-A13E-F8B3D56E419B}"/>
              </c:ext>
            </c:extLst>
          </c:dPt>
          <c:dPt>
            <c:idx val="1"/>
            <c:invertIfNegative val="0"/>
            <c:bubble3D val="0"/>
            <c:extLst>
              <c:ext xmlns:c16="http://schemas.microsoft.com/office/drawing/2014/chart" uri="{C3380CC4-5D6E-409C-BE32-E72D297353CC}">
                <c16:uniqueId val="{00000001-2DF4-48AB-A13E-F8B3D56E419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New!$A$30:$A$33</c:f>
              <c:strCache>
                <c:ptCount val="3"/>
                <c:pt idx="0">
                  <c:v>Email</c:v>
                </c:pt>
                <c:pt idx="1">
                  <c:v>Instagram</c:v>
                </c:pt>
                <c:pt idx="2">
                  <c:v>Web Banner</c:v>
                </c:pt>
              </c:strCache>
            </c:strRef>
          </c:cat>
          <c:val>
            <c:numRef>
              <c:f>New!$B$30:$B$33</c:f>
              <c:numCache>
                <c:formatCode>0.0%</c:formatCode>
                <c:ptCount val="3"/>
                <c:pt idx="0">
                  <c:v>0.51898734177215189</c:v>
                </c:pt>
                <c:pt idx="1">
                  <c:v>0.42168674698795183</c:v>
                </c:pt>
                <c:pt idx="2">
                  <c:v>0.30357142857142855</c:v>
                </c:pt>
              </c:numCache>
            </c:numRef>
          </c:val>
          <c:extLst>
            <c:ext xmlns:c16="http://schemas.microsoft.com/office/drawing/2014/chart" uri="{C3380CC4-5D6E-409C-BE32-E72D297353CC}">
              <c16:uniqueId val="{00000002-2DF4-48AB-A13E-F8B3D56E419B}"/>
            </c:ext>
          </c:extLst>
        </c:ser>
        <c:ser>
          <c:idx val="1"/>
          <c:order val="1"/>
          <c:tx>
            <c:strRef>
              <c:f>New!$C$28:$C$29</c:f>
              <c:strCache>
                <c:ptCount val="1"/>
                <c:pt idx="0">
                  <c:v>B</c:v>
                </c:pt>
              </c:strCache>
            </c:strRef>
          </c:tx>
          <c:spPr>
            <a:solidFill>
              <a:schemeClr val="accent1">
                <a:lumMod val="50000"/>
                <a:lumOff val="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2DF4-48AB-A13E-F8B3D56E419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New!$A$30:$A$33</c:f>
              <c:strCache>
                <c:ptCount val="3"/>
                <c:pt idx="0">
                  <c:v>Email</c:v>
                </c:pt>
                <c:pt idx="1">
                  <c:v>Instagram</c:v>
                </c:pt>
                <c:pt idx="2">
                  <c:v>Web Banner</c:v>
                </c:pt>
              </c:strCache>
            </c:strRef>
          </c:cat>
          <c:val>
            <c:numRef>
              <c:f>New!$C$30:$C$33</c:f>
              <c:numCache>
                <c:formatCode>0.0%</c:formatCode>
                <c:ptCount val="3"/>
                <c:pt idx="0">
                  <c:v>0.5714285714285714</c:v>
                </c:pt>
                <c:pt idx="1">
                  <c:v>0.453125</c:v>
                </c:pt>
                <c:pt idx="2">
                  <c:v>0.4891304347826087</c:v>
                </c:pt>
              </c:numCache>
            </c:numRef>
          </c:val>
          <c:extLst>
            <c:ext xmlns:c16="http://schemas.microsoft.com/office/drawing/2014/chart" uri="{C3380CC4-5D6E-409C-BE32-E72D297353CC}">
              <c16:uniqueId val="{00000003-2DF4-48AB-A13E-F8B3D56E419B}"/>
            </c:ext>
          </c:extLst>
        </c:ser>
        <c:dLbls>
          <c:showLegendKey val="0"/>
          <c:showVal val="0"/>
          <c:showCatName val="0"/>
          <c:showSerName val="0"/>
          <c:showPercent val="0"/>
          <c:showBubbleSize val="0"/>
        </c:dLbls>
        <c:gapWidth val="100"/>
        <c:overlap val="-24"/>
        <c:axId val="1206606416"/>
        <c:axId val="1206602096"/>
      </c:barChart>
      <c:catAx>
        <c:axId val="120660641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crossAx val="1206602096"/>
        <c:crosses val="autoZero"/>
        <c:auto val="1"/>
        <c:lblAlgn val="ctr"/>
        <c:lblOffset val="100"/>
        <c:noMultiLvlLbl val="0"/>
      </c:catAx>
      <c:valAx>
        <c:axId val="1206602096"/>
        <c:scaling>
          <c:orientation val="minMax"/>
        </c:scaling>
        <c:delete val="1"/>
        <c:axPos val="l"/>
        <c:majorGridlines>
          <c:spPr>
            <a:ln w="9525" cap="flat" cmpd="sng" algn="ctr">
              <a:solidFill>
                <a:schemeClr val="lt1">
                  <a:lumMod val="95000"/>
                  <a:alpha val="10000"/>
                </a:schemeClr>
              </a:solidFill>
              <a:round/>
            </a:ln>
            <a:effectLst/>
          </c:spPr>
        </c:majorGridlines>
        <c:numFmt formatCode="0.0%" sourceLinked="1"/>
        <c:majorTickMark val="none"/>
        <c:minorTickMark val="none"/>
        <c:tickLblPos val="nextTo"/>
        <c:crossAx val="1206606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[Campaign_Data_Week1.xlsx]New!PivotTable4</c:name>
    <c:fmtId val="19"/>
  </c:pivotSource>
  <c:chart>
    <c:autoTitleDeleted val="0"/>
    <c:pivotFmts>
      <c:pivotFmt>
        <c:idx val="0"/>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rot lat="0" lon="0" rev="0"/>
            </a:camera>
            <a:lightRig rig="twoPt" dir="tl"/>
          </a:scene3d>
          <a:sp3d prstMaterial="flat">
            <a:bevelT w="12700" h="25400" prst="coolSlan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New!$B$50:$B$51</c:f>
              <c:strCache>
                <c:ptCount val="1"/>
                <c:pt idx="0">
                  <c:v>Email</c:v>
                </c:pt>
              </c:strCache>
            </c:strRef>
          </c:tx>
          <c:spPr>
            <a:solidFill>
              <a:schemeClr val="accent1">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2930040182019631"/>
                      <c:h val="0.11984410356192012"/>
                    </c:manualLayout>
                  </c15:layout>
                </c:ext>
                <c:ext xmlns:c16="http://schemas.microsoft.com/office/drawing/2014/chart" uri="{C3380CC4-5D6E-409C-BE32-E72D297353CC}">
                  <c16:uniqueId val="{00000003-7898-46F6-8E32-010DA0D6A8A8}"/>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22930040182019631"/>
                      <c:h val="0.11984410356192012"/>
                    </c:manualLayout>
                  </c15:layout>
                </c:ext>
                <c:ext xmlns:c16="http://schemas.microsoft.com/office/drawing/2014/chart" uri="{C3380CC4-5D6E-409C-BE32-E72D297353CC}">
                  <c16:uniqueId val="{00000006-7898-46F6-8E32-010DA0D6A8A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New!$A$52:$A$54</c:f>
              <c:strCache>
                <c:ptCount val="2"/>
                <c:pt idx="0">
                  <c:v>A</c:v>
                </c:pt>
                <c:pt idx="1">
                  <c:v>B</c:v>
                </c:pt>
              </c:strCache>
            </c:strRef>
          </c:cat>
          <c:val>
            <c:numRef>
              <c:f>New!$B$52:$B$54</c:f>
              <c:numCache>
                <c:formatCode>[$$-409]#,##0.00</c:formatCode>
                <c:ptCount val="2"/>
                <c:pt idx="0">
                  <c:v>2124.4700000000003</c:v>
                </c:pt>
                <c:pt idx="1">
                  <c:v>1382.3799999999999</c:v>
                </c:pt>
              </c:numCache>
            </c:numRef>
          </c:val>
          <c:extLst>
            <c:ext xmlns:c16="http://schemas.microsoft.com/office/drawing/2014/chart" uri="{C3380CC4-5D6E-409C-BE32-E72D297353CC}">
              <c16:uniqueId val="{00000000-7898-46F6-8E32-010DA0D6A8A8}"/>
            </c:ext>
          </c:extLst>
        </c:ser>
        <c:ser>
          <c:idx val="1"/>
          <c:order val="1"/>
          <c:tx>
            <c:strRef>
              <c:f>New!$C$50:$C$51</c:f>
              <c:strCache>
                <c:ptCount val="1"/>
                <c:pt idx="0">
                  <c:v>Instagram</c:v>
                </c:pt>
              </c:strCache>
            </c:strRef>
          </c:tx>
          <c:spPr>
            <a:solidFill>
              <a:schemeClr val="accent2">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New!$A$52:$A$54</c:f>
              <c:strCache>
                <c:ptCount val="2"/>
                <c:pt idx="0">
                  <c:v>A</c:v>
                </c:pt>
                <c:pt idx="1">
                  <c:v>B</c:v>
                </c:pt>
              </c:strCache>
            </c:strRef>
          </c:cat>
          <c:val>
            <c:numRef>
              <c:f>New!$C$52:$C$54</c:f>
              <c:numCache>
                <c:formatCode>[$$-409]#,##0.00</c:formatCode>
                <c:ptCount val="2"/>
                <c:pt idx="0">
                  <c:v>969.46</c:v>
                </c:pt>
                <c:pt idx="1">
                  <c:v>416.14</c:v>
                </c:pt>
              </c:numCache>
            </c:numRef>
          </c:val>
          <c:extLst>
            <c:ext xmlns:c16="http://schemas.microsoft.com/office/drawing/2014/chart" uri="{C3380CC4-5D6E-409C-BE32-E72D297353CC}">
              <c16:uniqueId val="{00000001-7898-46F6-8E32-010DA0D6A8A8}"/>
            </c:ext>
          </c:extLst>
        </c:ser>
        <c:ser>
          <c:idx val="2"/>
          <c:order val="2"/>
          <c:tx>
            <c:strRef>
              <c:f>New!$D$50:$D$51</c:f>
              <c:strCache>
                <c:ptCount val="1"/>
                <c:pt idx="0">
                  <c:v>Web Banner</c:v>
                </c:pt>
              </c:strCache>
            </c:strRef>
          </c:tx>
          <c:spPr>
            <a:solidFill>
              <a:schemeClr val="accent3">
                <a:shade val="80000"/>
                <a:satMod val="15000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New!$A$52:$A$54</c:f>
              <c:strCache>
                <c:ptCount val="2"/>
                <c:pt idx="0">
                  <c:v>A</c:v>
                </c:pt>
                <c:pt idx="1">
                  <c:v>B</c:v>
                </c:pt>
              </c:strCache>
            </c:strRef>
          </c:cat>
          <c:val>
            <c:numRef>
              <c:f>New!$D$52:$D$54</c:f>
              <c:numCache>
                <c:formatCode>[$$-409]#,##0.00</c:formatCode>
                <c:ptCount val="2"/>
                <c:pt idx="0">
                  <c:v>633.06000000000006</c:v>
                </c:pt>
                <c:pt idx="1">
                  <c:v>318.92000000000007</c:v>
                </c:pt>
              </c:numCache>
            </c:numRef>
          </c:val>
          <c:extLst>
            <c:ext xmlns:c16="http://schemas.microsoft.com/office/drawing/2014/chart" uri="{C3380CC4-5D6E-409C-BE32-E72D297353CC}">
              <c16:uniqueId val="{00000002-7898-46F6-8E32-010DA0D6A8A8}"/>
            </c:ext>
          </c:extLst>
        </c:ser>
        <c:dLbls>
          <c:dLblPos val="outEnd"/>
          <c:showLegendKey val="0"/>
          <c:showVal val="1"/>
          <c:showCatName val="0"/>
          <c:showSerName val="0"/>
          <c:showPercent val="0"/>
          <c:showBubbleSize val="0"/>
        </c:dLbls>
        <c:gapWidth val="100"/>
        <c:overlap val="-24"/>
        <c:axId val="1228458880"/>
        <c:axId val="1228457920"/>
      </c:barChart>
      <c:catAx>
        <c:axId val="122845888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228457920"/>
        <c:crosses val="autoZero"/>
        <c:auto val="1"/>
        <c:lblAlgn val="ctr"/>
        <c:lblOffset val="100"/>
        <c:noMultiLvlLbl val="0"/>
      </c:catAx>
      <c:valAx>
        <c:axId val="1228457920"/>
        <c:scaling>
          <c:orientation val="minMax"/>
        </c:scaling>
        <c:delete val="1"/>
        <c:axPos val="l"/>
        <c:majorGridlines>
          <c:spPr>
            <a:ln w="9525" cap="flat" cmpd="sng" algn="ctr">
              <a:solidFill>
                <a:schemeClr val="lt1">
                  <a:lumMod val="95000"/>
                  <a:alpha val="10000"/>
                </a:schemeClr>
              </a:solidFill>
              <a:round/>
            </a:ln>
            <a:effectLst/>
          </c:spPr>
        </c:majorGridlines>
        <c:numFmt formatCode="[$$-409]#,##0.00" sourceLinked="1"/>
        <c:majorTickMark val="none"/>
        <c:minorTickMark val="none"/>
        <c:tickLblPos val="nextTo"/>
        <c:crossAx val="122845888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3/21/2026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3/21/2026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95959" y="409440"/>
            <a:ext cx="9708318" cy="775597"/>
          </a:xfrm>
        </p:spPr>
        <p:txBody>
          <a:bodyPr anchor="t"/>
          <a:lstStyle/>
          <a:p>
            <a:pPr algn="ctr"/>
            <a:r>
              <a:rPr lang="en-US" sz="2800" b="1" dirty="0">
                <a:solidFill>
                  <a:schemeClr val="accent1"/>
                </a:solidFill>
              </a:rPr>
              <a:t>Double Down on Email + Campaign B to Maximize New Customer Growth</a:t>
            </a:r>
          </a:p>
        </p:txBody>
      </p:sp>
      <p:sp>
        <p:nvSpPr>
          <p:cNvPr id="8" name="Rectangle 7">
            <a:extLst>
              <a:ext uri="{FF2B5EF4-FFF2-40B4-BE49-F238E27FC236}">
                <a16:creationId xmlns:a16="http://schemas.microsoft.com/office/drawing/2014/main" id="{942B0D30-68D6-1748-728E-7FA73A5976EC}"/>
              </a:ext>
            </a:extLst>
          </p:cNvPr>
          <p:cNvSpPr/>
          <p:nvPr/>
        </p:nvSpPr>
        <p:spPr>
          <a:xfrm>
            <a:off x="751944" y="1331710"/>
            <a:ext cx="2751998"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chemeClr val="accent1"/>
                </a:solidFill>
              </a:rPr>
              <a:t>Email Dominates Revenue Across Both Campaigns</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751944" y="1833446"/>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208742" y="1872036"/>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532110" y="1863534"/>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208741" y="1360913"/>
            <a:ext cx="2765417"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chemeClr val="accent1"/>
                </a:solidFill>
              </a:rPr>
              <a:t>Campaign B Drives Higher Conversion Across All Channels</a:t>
            </a:r>
          </a:p>
        </p:txBody>
      </p:sp>
      <p:sp>
        <p:nvSpPr>
          <p:cNvPr id="54" name="Rectangle 53">
            <a:extLst>
              <a:ext uri="{FF2B5EF4-FFF2-40B4-BE49-F238E27FC236}">
                <a16:creationId xmlns:a16="http://schemas.microsoft.com/office/drawing/2014/main" id="{AC2F7AF7-DC76-6C1A-0458-2264EDF24BF9}"/>
              </a:ext>
            </a:extLst>
          </p:cNvPr>
          <p:cNvSpPr/>
          <p:nvPr/>
        </p:nvSpPr>
        <p:spPr>
          <a:xfrm>
            <a:off x="7532110" y="1424044"/>
            <a:ext cx="2751998"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chemeClr val="accent1"/>
                </a:solidFill>
              </a:rPr>
              <a:t>Email + Campaign B Leads New Customer Revenue Growth</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0" name="Chart 9">
            <a:extLst>
              <a:ext uri="{FF2B5EF4-FFF2-40B4-BE49-F238E27FC236}">
                <a16:creationId xmlns:a16="http://schemas.microsoft.com/office/drawing/2014/main" id="{AF4E6E68-CD95-562F-408D-207B14574E3D}"/>
              </a:ext>
            </a:extLst>
          </p:cNvPr>
          <p:cNvGraphicFramePr>
            <a:graphicFrameLocks/>
          </p:cNvGraphicFramePr>
          <p:nvPr>
            <p:extLst>
              <p:ext uri="{D42A27DB-BD31-4B8C-83A1-F6EECF244321}">
                <p14:modId xmlns:p14="http://schemas.microsoft.com/office/powerpoint/2010/main" val="1696261182"/>
              </p:ext>
            </p:extLst>
          </p:nvPr>
        </p:nvGraphicFramePr>
        <p:xfrm>
          <a:off x="751944" y="1833445"/>
          <a:ext cx="2765417" cy="252838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2" name="Chart 11">
            <a:extLst>
              <a:ext uri="{FF2B5EF4-FFF2-40B4-BE49-F238E27FC236}">
                <a16:creationId xmlns:a16="http://schemas.microsoft.com/office/drawing/2014/main" id="{6E480D03-D71A-FEB8-9CF2-4C9C8B47AE44}"/>
              </a:ext>
            </a:extLst>
          </p:cNvPr>
          <p:cNvGraphicFramePr>
            <a:graphicFrameLocks/>
          </p:cNvGraphicFramePr>
          <p:nvPr>
            <p:extLst>
              <p:ext uri="{D42A27DB-BD31-4B8C-83A1-F6EECF244321}">
                <p14:modId xmlns:p14="http://schemas.microsoft.com/office/powerpoint/2010/main" val="888135332"/>
              </p:ext>
            </p:extLst>
          </p:nvPr>
        </p:nvGraphicFramePr>
        <p:xfrm>
          <a:off x="4216505" y="1876357"/>
          <a:ext cx="2765417" cy="252838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3" name="Chart 12">
            <a:extLst>
              <a:ext uri="{FF2B5EF4-FFF2-40B4-BE49-F238E27FC236}">
                <a16:creationId xmlns:a16="http://schemas.microsoft.com/office/drawing/2014/main" id="{80397DFA-7958-162F-5BD2-FF24059030A2}"/>
              </a:ext>
            </a:extLst>
          </p:cNvPr>
          <p:cNvGraphicFramePr>
            <a:graphicFrameLocks/>
          </p:cNvGraphicFramePr>
          <p:nvPr>
            <p:extLst>
              <p:ext uri="{D42A27DB-BD31-4B8C-83A1-F6EECF244321}">
                <p14:modId xmlns:p14="http://schemas.microsoft.com/office/powerpoint/2010/main" val="1386167310"/>
              </p:ext>
            </p:extLst>
          </p:nvPr>
        </p:nvGraphicFramePr>
        <p:xfrm>
          <a:off x="7532110" y="1872036"/>
          <a:ext cx="2765416" cy="2527200"/>
        </p:xfrm>
        <a:graphic>
          <a:graphicData uri="http://schemas.openxmlformats.org/drawingml/2006/chart">
            <c:chart xmlns:c="http://schemas.openxmlformats.org/drawingml/2006/chart" xmlns:r="http://schemas.openxmlformats.org/officeDocument/2006/relationships" r:id="rId11"/>
          </a:graphicData>
        </a:graphic>
      </p:graphicFrame>
      <p:sp>
        <p:nvSpPr>
          <p:cNvPr id="20" name="TextBox 19">
            <a:extLst>
              <a:ext uri="{FF2B5EF4-FFF2-40B4-BE49-F238E27FC236}">
                <a16:creationId xmlns:a16="http://schemas.microsoft.com/office/drawing/2014/main" id="{5AF1CAA7-14D0-9917-6098-2465CDE6E447}"/>
              </a:ext>
            </a:extLst>
          </p:cNvPr>
          <p:cNvSpPr txBox="1"/>
          <p:nvPr/>
        </p:nvSpPr>
        <p:spPr>
          <a:xfrm>
            <a:off x="695959" y="4830144"/>
            <a:ext cx="9789161" cy="192992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sz="1400" b="1" dirty="0">
                <a:solidFill>
                  <a:schemeClr val="accent1"/>
                </a:solidFill>
              </a:rPr>
              <a:t>Recommendation</a:t>
            </a:r>
            <a:r>
              <a:rPr lang="en-US" sz="1400" dirty="0">
                <a:solidFill>
                  <a:schemeClr val="accent1"/>
                </a:solidFill>
              </a:rPr>
              <a:t>:</a:t>
            </a:r>
          </a:p>
          <a:p>
            <a:pPr marL="285750" indent="-285750">
              <a:lnSpc>
                <a:spcPct val="150000"/>
              </a:lnSpc>
              <a:buFont typeface="Wingdings" panose="05000000000000000000" pitchFamily="2" charset="2"/>
              <a:buChar char="Ø"/>
            </a:pPr>
            <a:r>
              <a:rPr lang="en-US" sz="1400" dirty="0">
                <a:solidFill>
                  <a:schemeClr val="accent1"/>
                </a:solidFill>
              </a:rPr>
              <a:t>Double down on Email + Campaign B for scalable new customer acquisition, as it delivers consistently</a:t>
            </a:r>
          </a:p>
          <a:p>
            <a:pPr>
              <a:lnSpc>
                <a:spcPct val="150000"/>
              </a:lnSpc>
            </a:pPr>
            <a:r>
              <a:rPr lang="en-US" sz="1400" dirty="0">
                <a:solidFill>
                  <a:schemeClr val="accent1"/>
                </a:solidFill>
              </a:rPr>
              <a:t>      higher conversion rates across channels </a:t>
            </a:r>
          </a:p>
          <a:p>
            <a:pPr marL="285750" indent="-285750">
              <a:lnSpc>
                <a:spcPct val="150000"/>
              </a:lnSpc>
              <a:buFont typeface="Wingdings" panose="05000000000000000000" pitchFamily="2" charset="2"/>
              <a:buChar char="Ø"/>
            </a:pPr>
            <a:r>
              <a:rPr lang="en-US" sz="1400" dirty="0">
                <a:solidFill>
                  <a:schemeClr val="accent1"/>
                </a:solidFill>
              </a:rPr>
              <a:t>Leverage Email + Campaign A to maximize revenue per new customer through higher-value conversions </a:t>
            </a:r>
          </a:p>
          <a:p>
            <a:pPr marL="285750" indent="-285750">
              <a:lnSpc>
                <a:spcPct val="150000"/>
              </a:lnSpc>
              <a:buFont typeface="Wingdings" panose="05000000000000000000" pitchFamily="2" charset="2"/>
              <a:buChar char="Ø"/>
            </a:pPr>
            <a:r>
              <a:rPr lang="en-US" sz="1400" dirty="0">
                <a:solidFill>
                  <a:schemeClr val="accent1"/>
                </a:solidFill>
              </a:rPr>
              <a:t>Use Instagram for awareness and engagement, not direct conversion </a:t>
            </a:r>
          </a:p>
          <a:p>
            <a:pPr marL="285750" indent="-285750">
              <a:lnSpc>
                <a:spcPct val="150000"/>
              </a:lnSpc>
              <a:buFont typeface="Wingdings" panose="05000000000000000000" pitchFamily="2" charset="2"/>
              <a:buChar char="Ø"/>
            </a:pPr>
            <a:r>
              <a:rPr lang="en-US" sz="1400" dirty="0">
                <a:solidFill>
                  <a:schemeClr val="accent1"/>
                </a:solidFill>
              </a:rPr>
              <a:t>Reduce investment in Web Banners due to consistently low performance </a:t>
            </a:r>
          </a:p>
          <a:p>
            <a:pPr marL="285750" indent="-285750">
              <a:lnSpc>
                <a:spcPct val="150000"/>
              </a:lnSpc>
              <a:buFont typeface="Wingdings" panose="05000000000000000000" pitchFamily="2" charset="2"/>
              <a:buChar char="Ø"/>
            </a:pPr>
            <a:r>
              <a:rPr lang="en-US" sz="1400" dirty="0">
                <a:solidFill>
                  <a:schemeClr val="accent1"/>
                </a:solidFill>
              </a:rPr>
              <a:t>Scale promotional messaging (Campaign B) for conversion-focused growth strategies </a:t>
            </a:r>
          </a:p>
          <a:p>
            <a:pPr marL="285750" indent="-285750">
              <a:lnSpc>
                <a:spcPct val="150000"/>
              </a:lnSpc>
              <a:buFont typeface="Wingdings" panose="05000000000000000000" pitchFamily="2" charset="2"/>
              <a:buChar char="Ø"/>
            </a:pPr>
            <a:endParaRPr lang="en-US" sz="1400" dirty="0">
              <a:solidFill>
                <a:schemeClr val="accent1"/>
              </a:solidFill>
            </a:endParaRPr>
          </a:p>
        </p:txBody>
      </p:sp>
      <p:sp>
        <p:nvSpPr>
          <p:cNvPr id="21" name="TextBox 20">
            <a:extLst>
              <a:ext uri="{FF2B5EF4-FFF2-40B4-BE49-F238E27FC236}">
                <a16:creationId xmlns:a16="http://schemas.microsoft.com/office/drawing/2014/main" id="{7E037207-DB75-A54F-2792-5F5CCA67F0D5}"/>
              </a:ext>
            </a:extLst>
          </p:cNvPr>
          <p:cNvSpPr txBox="1"/>
          <p:nvPr/>
        </p:nvSpPr>
        <p:spPr>
          <a:xfrm>
            <a:off x="9169505" y="2274009"/>
            <a:ext cx="978324" cy="284263"/>
          </a:xfrm>
          <a:prstGeom prst="rect">
            <a:avLst/>
          </a:prstGeom>
          <a:solidFill>
            <a:srgbClr val="FBE0A6"/>
          </a:solidFill>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IN" sz="1000" b="1" dirty="0">
                <a:solidFill>
                  <a:schemeClr val="bg2">
                    <a:lumMod val="10000"/>
                  </a:schemeClr>
                </a:solidFill>
              </a:rPr>
              <a:t>Top Performer</a:t>
            </a:r>
          </a:p>
        </p:txBody>
      </p:sp>
      <p:sp>
        <p:nvSpPr>
          <p:cNvPr id="24" name="TextBox 23">
            <a:extLst>
              <a:ext uri="{FF2B5EF4-FFF2-40B4-BE49-F238E27FC236}">
                <a16:creationId xmlns:a16="http://schemas.microsoft.com/office/drawing/2014/main" id="{BAF73D94-EADD-89EC-773C-2DC7E84972E7}"/>
              </a:ext>
            </a:extLst>
          </p:cNvPr>
          <p:cNvSpPr txBox="1"/>
          <p:nvPr/>
        </p:nvSpPr>
        <p:spPr>
          <a:xfrm>
            <a:off x="2708888" y="2082535"/>
            <a:ext cx="779287" cy="224577"/>
          </a:xfrm>
          <a:prstGeom prst="rect">
            <a:avLst/>
          </a:prstGeom>
          <a:solidFill>
            <a:srgbClr val="FBE0A6"/>
          </a:solidFill>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IN" sz="900" b="1" dirty="0">
                <a:solidFill>
                  <a:schemeClr val="bg2">
                    <a:lumMod val="10000"/>
                  </a:schemeClr>
                </a:solidFill>
              </a:rPr>
              <a:t>Top </a:t>
            </a:r>
            <a:r>
              <a:rPr lang="en-IN" sz="800" b="1" dirty="0">
                <a:solidFill>
                  <a:schemeClr val="bg2">
                    <a:lumMod val="10000"/>
                  </a:schemeClr>
                </a:solidFill>
              </a:rPr>
              <a:t>Performer</a:t>
            </a:r>
            <a:endParaRPr lang="en-IN" sz="900" b="1" dirty="0">
              <a:solidFill>
                <a:schemeClr val="bg2">
                  <a:lumMod val="10000"/>
                </a:schemeClr>
              </a:solidFill>
            </a:endParaRPr>
          </a:p>
        </p:txBody>
      </p:sp>
      <p:sp>
        <p:nvSpPr>
          <p:cNvPr id="25" name="Isosceles Triangle 24">
            <a:extLst>
              <a:ext uri="{FF2B5EF4-FFF2-40B4-BE49-F238E27FC236}">
                <a16:creationId xmlns:a16="http://schemas.microsoft.com/office/drawing/2014/main" id="{30B73421-C9BC-4311-7F05-1A77DC41BC5B}"/>
              </a:ext>
            </a:extLst>
          </p:cNvPr>
          <p:cNvSpPr/>
          <p:nvPr/>
        </p:nvSpPr>
        <p:spPr>
          <a:xfrm rot="12663570">
            <a:off x="9426784" y="2623614"/>
            <a:ext cx="190500" cy="213360"/>
          </a:xfrm>
          <a:prstGeom prst="triangle">
            <a:avLst/>
          </a:prstGeom>
          <a:solidFill>
            <a:srgbClr val="FBE0A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200" dirty="0">
              <a:solidFill>
                <a:srgbClr val="FFFFFF"/>
              </a:solidFill>
            </a:endParaRPr>
          </a:p>
        </p:txBody>
      </p:sp>
      <p:sp>
        <p:nvSpPr>
          <p:cNvPr id="26" name="Isosceles Triangle 25">
            <a:extLst>
              <a:ext uri="{FF2B5EF4-FFF2-40B4-BE49-F238E27FC236}">
                <a16:creationId xmlns:a16="http://schemas.microsoft.com/office/drawing/2014/main" id="{B9ACABAD-DFCF-7604-73C6-DAE0F7EECF54}"/>
              </a:ext>
            </a:extLst>
          </p:cNvPr>
          <p:cNvSpPr/>
          <p:nvPr/>
        </p:nvSpPr>
        <p:spPr>
          <a:xfrm rot="14030015">
            <a:off x="2618104" y="2417850"/>
            <a:ext cx="190500" cy="213360"/>
          </a:xfrm>
          <a:prstGeom prst="triangle">
            <a:avLst/>
          </a:prstGeom>
          <a:solidFill>
            <a:srgbClr val="FBE0A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200" dirty="0">
              <a:solidFill>
                <a:srgbClr val="FFFFFF"/>
              </a:solidFill>
            </a:endParaRPr>
          </a:p>
        </p:txBody>
      </p:sp>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docProps/app.xml><?xml version="1.0" encoding="utf-8"?>
<Properties xmlns="http://schemas.openxmlformats.org/officeDocument/2006/extended-properties" xmlns:vt="http://schemas.openxmlformats.org/officeDocument/2006/docPropsVTypes">
  <Template>BCG Grid 16:9</Template>
  <TotalTime>311</TotalTime>
  <Words>116</Words>
  <Application>Microsoft Office PowerPoint</Application>
  <PresentationFormat>Widescreen</PresentationFormat>
  <Paragraphs>20</Paragraphs>
  <Slides>1</Slides>
  <Notes>0</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7" baseType="lpstr">
      <vt:lpstr>Arial</vt:lpstr>
      <vt:lpstr>Trebuchet MS</vt:lpstr>
      <vt:lpstr>Wingdings</vt:lpstr>
      <vt:lpstr>BCG Grid 16:9</vt:lpstr>
      <vt:lpstr>think-cell Slide</vt:lpstr>
      <vt:lpstr>Double Down on Email + Campaign B to Maximize New Customer Growth</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Shrinivas Satkantwar</cp:lastModifiedBy>
  <cp:revision>10</cp:revision>
  <cp:lastPrinted>2016-04-06T18:59:25Z</cp:lastPrinted>
  <dcterms:created xsi:type="dcterms:W3CDTF">2025-04-28T17:07:03Z</dcterms:created>
  <dcterms:modified xsi:type="dcterms:W3CDTF">2026-03-21T19:01:00Z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